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AVL Trees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lang="en-US" dirty="0"/>
              <a:t>AURSHIA MUDASSAR</a:t>
            </a:r>
          </a:p>
          <a:p>
            <a:r>
              <a:rPr lang="en-US" dirty="0"/>
              <a:t>BS AI –B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9814"/>
            <a:ext cx="8229600" cy="1143000"/>
          </a:xfrm>
          <a:solidFill>
            <a:schemeClr val="bg2"/>
          </a:solidFill>
        </p:spPr>
        <p:txBody>
          <a:bodyPr/>
          <a:lstStyle/>
          <a:p>
            <a:r>
              <a:t>What is an AVL Tree?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- Self-balancing Binary Search Tree</a:t>
            </a:r>
          </a:p>
          <a:p>
            <a:r>
              <a:rPr dirty="0"/>
              <a:t>- Named after Adelson-</a:t>
            </a:r>
            <a:r>
              <a:rPr dirty="0" err="1"/>
              <a:t>Velsky</a:t>
            </a:r>
            <a:r>
              <a:rPr dirty="0"/>
              <a:t> and Landis</a:t>
            </a:r>
          </a:p>
          <a:p>
            <a:r>
              <a:rPr dirty="0"/>
              <a:t>- Balance maintained after insertion and deletion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AVL Tree 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Balance Factor = Height(left) − Height(right)</a:t>
            </a:r>
          </a:p>
          <a:p>
            <a:endParaRPr dirty="0"/>
          </a:p>
          <a:p>
            <a:r>
              <a:rPr dirty="0"/>
              <a:t>Allowed values:</a:t>
            </a:r>
          </a:p>
          <a:p>
            <a:r>
              <a:rPr dirty="0"/>
              <a:t>- -1</a:t>
            </a:r>
          </a:p>
          <a:p>
            <a:r>
              <a:rPr dirty="0"/>
              <a:t>- 0</a:t>
            </a:r>
          </a:p>
          <a:p>
            <a:r>
              <a:rPr dirty="0"/>
              <a:t>- +1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Rotations in AVL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- Used to rebalance the tree</a:t>
            </a:r>
          </a:p>
          <a:p>
            <a:r>
              <a:rPr dirty="0"/>
              <a:t>- LL Rotation</a:t>
            </a:r>
          </a:p>
          <a:p>
            <a:r>
              <a:rPr dirty="0"/>
              <a:t>- RR Rotation</a:t>
            </a:r>
          </a:p>
          <a:p>
            <a:r>
              <a:rPr dirty="0"/>
              <a:t>- LR Rotation</a:t>
            </a:r>
          </a:p>
          <a:p>
            <a:r>
              <a:rPr dirty="0"/>
              <a:t>- RL Rotation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LL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Occurs when insertion is in left subtree of left child</a:t>
            </a:r>
          </a:p>
          <a:p>
            <a:r>
              <a:rPr dirty="0"/>
              <a:t>Solution: Right Rotation</a:t>
            </a:r>
            <a:endParaRPr lang="en-US" dirty="0"/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   50, 30, 70, 20, 10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RR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Occurs when insertion is in right subtree of right child</a:t>
            </a:r>
          </a:p>
          <a:p>
            <a:r>
              <a:rPr dirty="0"/>
              <a:t>Solution: Left Rotation</a:t>
            </a:r>
            <a:endParaRPr lang="en-US" dirty="0"/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        50, 30, 70, 80, 90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LR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Insertion in right subtree of left child</a:t>
            </a:r>
          </a:p>
          <a:p>
            <a:r>
              <a:rPr dirty="0"/>
              <a:t>Solution:</a:t>
            </a:r>
          </a:p>
          <a:p>
            <a:r>
              <a:rPr dirty="0"/>
              <a:t>- Left rotate child</a:t>
            </a:r>
          </a:p>
          <a:p>
            <a:r>
              <a:rPr dirty="0"/>
              <a:t>- Right rotate node</a:t>
            </a:r>
            <a:endParaRPr lang="en-US" dirty="0"/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         50, 30, 70, 20, 40, 35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RL Rotation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Insertion in left subtree of right child</a:t>
            </a:r>
          </a:p>
          <a:p>
            <a:r>
              <a:rPr dirty="0"/>
              <a:t>Solution:</a:t>
            </a:r>
          </a:p>
          <a:p>
            <a:r>
              <a:rPr dirty="0"/>
              <a:t>- Right rotate child</a:t>
            </a:r>
          </a:p>
          <a:p>
            <a:r>
              <a:rPr dirty="0"/>
              <a:t>- Left rotate node</a:t>
            </a:r>
            <a:endParaRPr lang="en-US" dirty="0"/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         50, 30, 70, 60, 80, 65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Deletion in AVL Tree – Case 1b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85000" lnSpcReduction="20000"/>
          </a:bodyPr>
          <a:lstStyle/>
          <a:p>
            <a:r>
              <a:rPr dirty="0"/>
              <a:t>Parent balance = 0</a:t>
            </a:r>
          </a:p>
          <a:p>
            <a:r>
              <a:rPr dirty="0"/>
              <a:t>Deleted node was in right subtree</a:t>
            </a:r>
          </a:p>
          <a:p>
            <a:pPr marL="0" indent="0">
              <a:buNone/>
            </a:pPr>
            <a:r>
              <a:rPr lang="en-US" dirty="0"/>
              <a:t>                                 40</a:t>
            </a:r>
          </a:p>
          <a:p>
            <a:pPr marL="0" indent="0">
              <a:buNone/>
            </a:pPr>
            <a:r>
              <a:rPr lang="en-US" dirty="0"/>
              <a:t>                                /  \</a:t>
            </a:r>
          </a:p>
          <a:p>
            <a:pPr marL="0" indent="0">
              <a:buNone/>
            </a:pPr>
            <a:r>
              <a:rPr lang="en-US" dirty="0"/>
              <a:t>                             20    60</a:t>
            </a:r>
          </a:p>
          <a:p>
            <a:pPr marL="0" indent="0">
              <a:buNone/>
            </a:pPr>
            <a:r>
              <a:rPr lang="en-US" dirty="0"/>
              <a:t>                            / \</a:t>
            </a:r>
          </a:p>
          <a:p>
            <a:pPr marL="0" indent="0">
              <a:buNone/>
            </a:pPr>
            <a:r>
              <a:rPr lang="en-US" dirty="0"/>
              <a:t>                         10  30             (delete 60)</a:t>
            </a:r>
          </a:p>
          <a:p>
            <a:r>
              <a:rPr dirty="0"/>
              <a:t>Action:</a:t>
            </a:r>
          </a:p>
          <a:p>
            <a:r>
              <a:rPr dirty="0"/>
              <a:t>- Change balance of parent</a:t>
            </a:r>
          </a:p>
          <a:p>
            <a:r>
              <a:rPr dirty="0"/>
              <a:t>- Stop (no effect on higher nodes)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Deletion in AVL Tree – Case 2a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85000" lnSpcReduction="20000"/>
          </a:bodyPr>
          <a:lstStyle/>
          <a:p>
            <a:r>
              <a:rPr dirty="0"/>
              <a:t>Parent balance = +1</a:t>
            </a:r>
          </a:p>
          <a:p>
            <a:r>
              <a:rPr dirty="0"/>
              <a:t>Deleted node was in left subtree</a:t>
            </a:r>
          </a:p>
          <a:p>
            <a:r>
              <a:rPr lang="en-US" dirty="0"/>
              <a:t>                       50</a:t>
            </a:r>
          </a:p>
          <a:p>
            <a:r>
              <a:rPr lang="en-US" dirty="0"/>
              <a:t>                      /  \</a:t>
            </a:r>
          </a:p>
          <a:p>
            <a:r>
              <a:rPr lang="en-US" dirty="0"/>
              <a:t>                   30    70</a:t>
            </a:r>
          </a:p>
          <a:p>
            <a:r>
              <a:rPr lang="en-US" dirty="0"/>
              <a:t>                   /</a:t>
            </a:r>
          </a:p>
          <a:p>
            <a:r>
              <a:rPr lang="en-US" dirty="0"/>
              <a:t>                 20     (delete 20)</a:t>
            </a:r>
            <a:endParaRPr dirty="0"/>
          </a:p>
          <a:p>
            <a:r>
              <a:rPr dirty="0"/>
              <a:t>Action:</a:t>
            </a:r>
          </a:p>
          <a:p>
            <a:r>
              <a:rPr dirty="0"/>
              <a:t>- Change balance of parent</a:t>
            </a:r>
          </a:p>
          <a:p>
            <a:r>
              <a:rPr dirty="0"/>
              <a:t>- Continue up the tree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Deletion in AVL Tree – Case 2b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85000" lnSpcReduction="20000"/>
          </a:bodyPr>
          <a:lstStyle/>
          <a:p>
            <a:r>
              <a:rPr dirty="0"/>
              <a:t>Parent balance = -1</a:t>
            </a:r>
          </a:p>
          <a:p>
            <a:r>
              <a:rPr dirty="0"/>
              <a:t>Deleted node was in right subtree</a:t>
            </a:r>
          </a:p>
          <a:p>
            <a:r>
              <a:rPr lang="en-US" dirty="0"/>
              <a:t>                     50</a:t>
            </a:r>
          </a:p>
          <a:p>
            <a:r>
              <a:rPr lang="en-US" dirty="0"/>
              <a:t>                    /  \</a:t>
            </a:r>
          </a:p>
          <a:p>
            <a:r>
              <a:rPr lang="en-US" dirty="0"/>
              <a:t>                 30    70</a:t>
            </a:r>
          </a:p>
          <a:p>
            <a:r>
              <a:rPr lang="en-US" dirty="0"/>
              <a:t>                            \</a:t>
            </a:r>
          </a:p>
          <a:p>
            <a:r>
              <a:rPr lang="en-US" dirty="0"/>
              <a:t>                            80         (delete 80)</a:t>
            </a:r>
            <a:endParaRPr dirty="0"/>
          </a:p>
          <a:p>
            <a:r>
              <a:rPr dirty="0"/>
              <a:t>Action:</a:t>
            </a:r>
          </a:p>
          <a:p>
            <a:r>
              <a:rPr dirty="0"/>
              <a:t>- Change balance of parent</a:t>
            </a:r>
          </a:p>
          <a:p>
            <a:r>
              <a:rPr dirty="0"/>
              <a:t>- Continue up the tree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Deletion in AVL Tree – Case 3a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70000" lnSpcReduction="20000"/>
          </a:bodyPr>
          <a:lstStyle/>
          <a:p>
            <a:r>
              <a:rPr dirty="0"/>
              <a:t>Parent balance = -1</a:t>
            </a:r>
          </a:p>
          <a:p>
            <a:r>
              <a:rPr dirty="0"/>
              <a:t>Deleted node was in left subtree</a:t>
            </a:r>
          </a:p>
          <a:p>
            <a:r>
              <a:rPr dirty="0"/>
              <a:t>Right subtree was balanced</a:t>
            </a:r>
          </a:p>
          <a:p>
            <a:r>
              <a:rPr lang="en-US" dirty="0"/>
              <a:t>                       50</a:t>
            </a:r>
          </a:p>
          <a:p>
            <a:r>
              <a:rPr lang="en-US" dirty="0"/>
              <a:t>                       /  \</a:t>
            </a:r>
          </a:p>
          <a:p>
            <a:r>
              <a:rPr lang="en-US" dirty="0"/>
              <a:t>                    30    70</a:t>
            </a:r>
          </a:p>
          <a:p>
            <a:r>
              <a:rPr lang="en-US" dirty="0"/>
              <a:t>                            / \</a:t>
            </a:r>
          </a:p>
          <a:p>
            <a:r>
              <a:rPr lang="en-US" dirty="0"/>
              <a:t>                         60  80        (delete 30)</a:t>
            </a:r>
            <a:endParaRPr dirty="0"/>
          </a:p>
          <a:p>
            <a:r>
              <a:rPr dirty="0"/>
              <a:t>Action:</a:t>
            </a:r>
          </a:p>
          <a:p>
            <a:r>
              <a:rPr dirty="0"/>
              <a:t>- Perform single rotation</a:t>
            </a:r>
          </a:p>
          <a:p>
            <a:r>
              <a:rPr dirty="0"/>
              <a:t>- Adjust balance</a:t>
            </a:r>
          </a:p>
          <a:p>
            <a:r>
              <a:rPr dirty="0"/>
              <a:t>- Stop here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Deletion in AVL Tree – Case 4a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77500" lnSpcReduction="20000"/>
          </a:bodyPr>
          <a:lstStyle/>
          <a:p>
            <a:r>
              <a:rPr dirty="0"/>
              <a:t>Parent balance = -1</a:t>
            </a:r>
          </a:p>
          <a:p>
            <a:r>
              <a:rPr dirty="0"/>
              <a:t>Deleted node was in left subtree</a:t>
            </a:r>
          </a:p>
          <a:p>
            <a:r>
              <a:rPr dirty="0"/>
              <a:t>Right subtree was unbalanced</a:t>
            </a:r>
          </a:p>
          <a:p>
            <a:r>
              <a:rPr lang="en-US" dirty="0"/>
              <a:t>                           50</a:t>
            </a:r>
          </a:p>
          <a:p>
            <a:r>
              <a:rPr lang="en-US" dirty="0"/>
              <a:t>                          /  \</a:t>
            </a:r>
          </a:p>
          <a:p>
            <a:r>
              <a:rPr lang="en-US" dirty="0"/>
              <a:t>                       30    70</a:t>
            </a:r>
          </a:p>
          <a:p>
            <a:r>
              <a:rPr lang="en-US" dirty="0"/>
              <a:t>                               /</a:t>
            </a:r>
          </a:p>
          <a:p>
            <a:r>
              <a:rPr lang="en-US" dirty="0"/>
              <a:t>                            60        (delete 30)</a:t>
            </a:r>
            <a:endParaRPr dirty="0"/>
          </a:p>
          <a:p>
            <a:r>
              <a:rPr dirty="0"/>
              <a:t>Action:</a:t>
            </a:r>
          </a:p>
          <a:p>
            <a:r>
              <a:rPr dirty="0"/>
              <a:t>- Perform double rotation</a:t>
            </a:r>
          </a:p>
          <a:p>
            <a:r>
              <a:rPr dirty="0"/>
              <a:t>- Continue checking higher nodes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/>
          </a:solidFill>
        </p:spPr>
        <p:txBody>
          <a:bodyPr/>
          <a:lstStyle/>
          <a:p>
            <a:r>
              <a:rPr dirty="0"/>
              <a:t>Deletion in AVL Tree – Case 5a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2"/>
          </a:solidFill>
        </p:spPr>
        <p:txBody>
          <a:bodyPr>
            <a:normAutofit fontScale="77500" lnSpcReduction="20000"/>
          </a:bodyPr>
          <a:lstStyle/>
          <a:p>
            <a:r>
              <a:rPr dirty="0"/>
              <a:t>Parent balance = -1</a:t>
            </a:r>
          </a:p>
          <a:p>
            <a:r>
              <a:rPr dirty="0"/>
              <a:t>Deleted node was in left subtree</a:t>
            </a:r>
          </a:p>
          <a:p>
            <a:r>
              <a:rPr dirty="0"/>
              <a:t>Right subtree was unbalanced</a:t>
            </a:r>
          </a:p>
          <a:p>
            <a:r>
              <a:rPr lang="en-US" dirty="0"/>
              <a:t>                           50</a:t>
            </a:r>
          </a:p>
          <a:p>
            <a:r>
              <a:rPr lang="en-US" dirty="0"/>
              <a:t>                          /  \</a:t>
            </a:r>
          </a:p>
          <a:p>
            <a:r>
              <a:rPr lang="en-US" dirty="0"/>
              <a:t>                       30    70</a:t>
            </a:r>
          </a:p>
          <a:p>
            <a:r>
              <a:rPr lang="en-US" dirty="0"/>
              <a:t>                                  \</a:t>
            </a:r>
          </a:p>
          <a:p>
            <a:r>
              <a:rPr lang="en-US" dirty="0"/>
              <a:t>                                 80                 (delete 30)</a:t>
            </a:r>
            <a:endParaRPr dirty="0"/>
          </a:p>
          <a:p>
            <a:r>
              <a:rPr dirty="0"/>
              <a:t>Action:</a:t>
            </a:r>
          </a:p>
          <a:p>
            <a:r>
              <a:rPr dirty="0"/>
              <a:t>- Perform single rotation at B</a:t>
            </a:r>
          </a:p>
          <a:p>
            <a:r>
              <a:rPr dirty="0"/>
              <a:t>- Continue checking higher nodes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497</Words>
  <Application>Microsoft Office PowerPoint</Application>
  <PresentationFormat>On-screen Show (4:3)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AVL Trees</vt:lpstr>
      <vt:lpstr>What is an AVL Tree?</vt:lpstr>
      <vt:lpstr>AVL Tree Property</vt:lpstr>
      <vt:lpstr>Rotations in AVL Trees</vt:lpstr>
      <vt:lpstr>LL Rotation</vt:lpstr>
      <vt:lpstr>RR Rotation</vt:lpstr>
      <vt:lpstr>LR Rotation</vt:lpstr>
      <vt:lpstr>RL Rotation</vt:lpstr>
      <vt:lpstr>Deletion in AVL Tree – Case 1b</vt:lpstr>
      <vt:lpstr>Deletion in AVL Tree – Case 2a</vt:lpstr>
      <vt:lpstr>Deletion in AVL Tree – Case 2b</vt:lpstr>
      <vt:lpstr>Deletion in AVL Tree – Case 3a</vt:lpstr>
      <vt:lpstr>Deletion in AVL Tree – Case 4a</vt:lpstr>
      <vt:lpstr>Deletion in AVL Tree – Case 5a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AVL Trees</dc:title>
  <dc:subject/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2026-01-01T01:47:10Z</dcterms:modified>
  <cp:category/>
</cp:coreProperties>
</file>